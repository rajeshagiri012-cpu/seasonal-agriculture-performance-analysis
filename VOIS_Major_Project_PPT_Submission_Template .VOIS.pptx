
<file path=[Content_Types].xml><?xml version="1.0" encoding="utf-8"?>
<Types xmlns="http://schemas.openxmlformats.org/package/2006/content-types">
  <Default Extension="jfif" ContentType="image/jpeg"/>
  <Default Extension="pdf" ContentType="image/unknown"/>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40" r:id="rId10"/>
    <p:sldId id="339" r:id="rId11"/>
    <p:sldId id="344" r:id="rId12"/>
    <p:sldId id="345" r:id="rId13"/>
    <p:sldId id="347" r:id="rId14"/>
    <p:sldId id="346"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5033" autoAdjust="0"/>
  </p:normalViewPr>
  <p:slideViewPr>
    <p:cSldViewPr snapToGrid="0">
      <p:cViewPr varScale="1">
        <p:scale>
          <a:sx n="70" d="100"/>
          <a:sy n="70" d="100"/>
        </p:scale>
        <p:origin x="738" y="54"/>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rajeshagiri012-cpu/Seasonal-Agriculture-Performance-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8.pdf"/><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82214" y="3583914"/>
            <a:ext cx="8480053" cy="861497"/>
          </a:xfrm>
        </p:spPr>
        <p:txBody>
          <a:bodyPr vert="horz" lIns="91440" tIns="45720" rIns="91440" bIns="45720" rtlCol="0" anchor="t">
            <a:normAutofit/>
          </a:bodyPr>
          <a:lstStyle/>
          <a:p>
            <a:pPr algn="r"/>
            <a:r>
              <a:rPr lang="en-US" b="0" dirty="0">
                <a:solidFill>
                  <a:schemeClr val="tx1"/>
                </a:solidFill>
              </a:rPr>
              <a:t>[Student Name :AGIRI RAJESH </a:t>
            </a:r>
            <a:endParaRPr lang="en-IN" b="0" dirty="0">
              <a:solidFill>
                <a:schemeClr val="tx1"/>
              </a:solidFill>
            </a:endParaRPr>
          </a:p>
          <a:p>
            <a:pPr algn="r"/>
            <a:r>
              <a:rPr lang="en-US" b="0" dirty="0">
                <a:solidFill>
                  <a:schemeClr val="tx1"/>
                </a:solidFill>
              </a:rPr>
              <a:t>College Name-AVN INSTITUTE OF ENGINEERING AND TECHNOLOGY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a:bodyPr>
          <a:lstStyle/>
          <a:p>
            <a:r>
              <a:rPr lang="en-GB" sz="3200" dirty="0"/>
              <a:t>Project Title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5138594" cy="369332"/>
          </a:xfrm>
          <a:prstGeom prst="rect">
            <a:avLst/>
          </a:prstGeom>
          <a:noFill/>
        </p:spPr>
        <p:txBody>
          <a:bodyPr wrap="square" rtlCol="0">
            <a:spAutoFit/>
          </a:bodyPr>
          <a:lstStyle/>
          <a:p>
            <a:r>
              <a:rPr lang="en-US" b="1" dirty="0"/>
              <a:t>AICTE STU ID : (</a:t>
            </a:r>
            <a:r>
              <a:rPr lang="en-IN" dirty="0"/>
              <a:t>STU6a662673b3c431785079411</a:t>
            </a:r>
            <a:r>
              <a:rPr lang="en-US" b="1" dirty="0"/>
              <a:t>)</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245660" y="151448"/>
            <a:ext cx="11368585" cy="6217420"/>
          </a:xfrm>
        </p:spPr>
        <p:txBody>
          <a:bodyPr>
            <a:normAutofit/>
          </a:bodyPr>
          <a:lstStyle/>
          <a:p>
            <a:pPr lvl="0"/>
            <a:r>
              <a:rPr lang="en-GB" dirty="0"/>
              <a:t>Project Description :</a:t>
            </a:r>
            <a:br>
              <a:rPr lang="en-GB" dirty="0"/>
            </a:br>
            <a:r>
              <a:rPr lang="en-IN" sz="2400" dirty="0"/>
              <a:t>Seasonal Agriculture Performance Analysis is a data analysis project that examines agricultural activities across different seasons, crops, and geographical areas. The project uses agricultural, environmental, resource-usage, and economic data to identify patterns and differences in seasonal performance.</a:t>
            </a:r>
            <a:br>
              <a:rPr lang="en-GB" sz="2400" dirty="0"/>
            </a:br>
            <a:r>
              <a:rPr lang="en-IN" sz="2400" dirty="0"/>
              <a:t>The analysis focuses on yield, production, revenue, cost, and profit, along with factors such as rainfall, temperature, soil moisture, water usage, fertilizer, and pesticide usage. Data cleaning, exploratory data analysis, statistical summaries, and correlation analysis are used to generate meaningful insights and support data-driven agricultural planning and decision-making.</a:t>
            </a:r>
            <a:br>
              <a:rPr lang="en-GB" sz="2400" dirty="0"/>
            </a:br>
            <a:endParaRPr lang="en-IN" sz="24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679259"/>
            <a:ext cx="9650940" cy="4148336"/>
          </a:xfrm>
        </p:spPr>
        <p:txBody>
          <a:bodyPr>
            <a:normAutofit/>
          </a:bodyPr>
          <a:lstStyle/>
          <a:p>
            <a:pPr algn="just">
              <a:lnSpc>
                <a:spcPct val="100000"/>
              </a:lnSpc>
            </a:pPr>
            <a:r>
              <a:rPr lang="en-IN" sz="3600" dirty="0"/>
              <a:t>The key end users of this project are farmers, agricultural planners, researchers, government agriculture departments, and agribusinesses who can use seasonal agricultural insights for better planning and decision-making.</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3153088"/>
          </a:xfrm>
        </p:spPr>
        <p:txBody>
          <a:bodyPr/>
          <a:lstStyle/>
          <a:p>
            <a:pPr lvl="1">
              <a:lnSpc>
                <a:spcPct val="100000"/>
              </a:lnSpc>
            </a:pPr>
            <a:r>
              <a:rPr lang="en-IN" dirty="0"/>
              <a:t>Python </a:t>
            </a:r>
          </a:p>
          <a:p>
            <a:pPr lvl="1">
              <a:lnSpc>
                <a:spcPct val="100000"/>
              </a:lnSpc>
            </a:pPr>
            <a:r>
              <a:rPr lang="en-IN" dirty="0"/>
              <a:t>Pandas </a:t>
            </a:r>
          </a:p>
          <a:p>
            <a:pPr lvl="1">
              <a:lnSpc>
                <a:spcPct val="100000"/>
              </a:lnSpc>
            </a:pPr>
            <a:r>
              <a:rPr lang="en-IN" dirty="0"/>
              <a:t> NumPy </a:t>
            </a:r>
          </a:p>
          <a:p>
            <a:pPr lvl="1">
              <a:lnSpc>
                <a:spcPct val="100000"/>
              </a:lnSpc>
            </a:pPr>
            <a:r>
              <a:rPr lang="en-IN" dirty="0"/>
              <a:t> Matplotlib </a:t>
            </a:r>
          </a:p>
          <a:p>
            <a:pPr lvl="1">
              <a:lnSpc>
                <a:spcPct val="100000"/>
              </a:lnSpc>
            </a:pPr>
            <a:r>
              <a:rPr lang="en-IN" dirty="0"/>
              <a:t> Seaborn </a:t>
            </a:r>
          </a:p>
          <a:p>
            <a:pPr lvl="1">
              <a:lnSpc>
                <a:spcPct val="100000"/>
              </a:lnSpc>
            </a:pPr>
            <a:r>
              <a:rPr lang="en-IN" dirty="0"/>
              <a:t> Google </a:t>
            </a:r>
            <a:r>
              <a:rPr lang="en-IN" dirty="0" err="1"/>
              <a:t>Colab</a:t>
            </a: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3" y="1201586"/>
            <a:ext cx="11257458" cy="5463374"/>
          </a:xfrm>
        </p:spPr>
        <p:txBody>
          <a:bodyPr/>
          <a:lstStyle/>
          <a:p>
            <a:pPr marL="0" indent="0">
              <a:buNone/>
            </a:pPr>
            <a:r>
              <a:rPr lang="en-US" dirty="0"/>
              <a:t> </a:t>
            </a:r>
            <a:r>
              <a:rPr lang="en-US" dirty="0">
                <a:highlight>
                  <a:srgbClr val="00FFFF"/>
                </a:highlight>
              </a:rPr>
              <a:t>Data Cleaning and Data preprocessing :</a:t>
            </a:r>
          </a:p>
          <a:p>
            <a:pPr marL="0" indent="0">
              <a:buNone/>
            </a:pPr>
            <a:r>
              <a:rPr lang="en-US" dirty="0">
                <a:solidFill>
                  <a:srgbClr val="FF0000"/>
                </a:solidFill>
              </a:rPr>
              <a:t>DATASET OVERVIEW :</a:t>
            </a:r>
            <a:br>
              <a:rPr lang="en-US" dirty="0"/>
            </a:br>
            <a:r>
              <a:rPr lang="en-US" dirty="0"/>
              <a:t>DATSET NAME :SEASONAL AGRICULTURAL ANALYSIS.</a:t>
            </a:r>
          </a:p>
          <a:p>
            <a:pPr marL="0" indent="0">
              <a:buNone/>
            </a:pPr>
            <a:r>
              <a:rPr lang="en-US" dirty="0"/>
              <a:t>NO OF RECORDS:4000</a:t>
            </a:r>
          </a:p>
          <a:p>
            <a:pPr marL="0" indent="0">
              <a:buNone/>
            </a:pPr>
            <a:r>
              <a:rPr lang="en-US" dirty="0"/>
              <a:t>NO OF FEATURES :28</a:t>
            </a:r>
          </a:p>
          <a:p>
            <a:pPr marL="0" indent="0">
              <a:buNone/>
            </a:pPr>
            <a:r>
              <a:rPr lang="en-US" dirty="0"/>
              <a:t>MAIN ANALYSIS :SEASONAL PERFORMANCE</a:t>
            </a:r>
            <a:endParaRPr lang="en-IN" dirty="0"/>
          </a:p>
        </p:txBody>
      </p:sp>
      <p:pic>
        <p:nvPicPr>
          <p:cNvPr id="6" name="Picture 5">
            <a:extLst>
              <a:ext uri="{FF2B5EF4-FFF2-40B4-BE49-F238E27FC236}">
                <a16:creationId xmlns:a16="http://schemas.microsoft.com/office/drawing/2014/main" id="{AE29E4DC-44ED-C2F9-D465-3CF18FC946C1}"/>
              </a:ext>
            </a:extLst>
          </p:cNvPr>
          <p:cNvPicPr>
            <a:picLocks noChangeAspect="1"/>
          </p:cNvPicPr>
          <p:nvPr/>
        </p:nvPicPr>
        <p:blipFill>
          <a:blip r:embed="rId3"/>
          <a:stretch>
            <a:fillRect/>
          </a:stretch>
        </p:blipFill>
        <p:spPr>
          <a:xfrm>
            <a:off x="9395513" y="2787026"/>
            <a:ext cx="2543530" cy="3684894"/>
          </a:xfrm>
          <a:prstGeom prst="rect">
            <a:avLst/>
          </a:prstGeom>
        </p:spPr>
      </p:pic>
      <p:pic>
        <p:nvPicPr>
          <p:cNvPr id="11" name="Picture 10">
            <a:extLst>
              <a:ext uri="{FF2B5EF4-FFF2-40B4-BE49-F238E27FC236}">
                <a16:creationId xmlns:a16="http://schemas.microsoft.com/office/drawing/2014/main" id="{67713AD2-DA17-FFFE-085F-3A83A0223068}"/>
              </a:ext>
            </a:extLst>
          </p:cNvPr>
          <p:cNvPicPr>
            <a:picLocks noChangeAspect="1"/>
          </p:cNvPicPr>
          <p:nvPr/>
        </p:nvPicPr>
        <p:blipFill>
          <a:blip r:embed="rId4"/>
          <a:stretch>
            <a:fillRect/>
          </a:stretch>
        </p:blipFill>
        <p:spPr>
          <a:xfrm>
            <a:off x="6017473" y="3630596"/>
            <a:ext cx="2238687" cy="1200318"/>
          </a:xfrm>
          <a:prstGeom prst="rect">
            <a:avLst/>
          </a:prstGeom>
        </p:spPr>
      </p:pic>
      <p:pic>
        <p:nvPicPr>
          <p:cNvPr id="13" name="Picture 12">
            <a:extLst>
              <a:ext uri="{FF2B5EF4-FFF2-40B4-BE49-F238E27FC236}">
                <a16:creationId xmlns:a16="http://schemas.microsoft.com/office/drawing/2014/main" id="{E5102337-595F-F10E-F893-00AFBF160E0A}"/>
              </a:ext>
            </a:extLst>
          </p:cNvPr>
          <p:cNvPicPr>
            <a:picLocks noChangeAspect="1"/>
          </p:cNvPicPr>
          <p:nvPr/>
        </p:nvPicPr>
        <p:blipFill>
          <a:blip r:embed="rId5"/>
          <a:stretch>
            <a:fillRect/>
          </a:stretch>
        </p:blipFill>
        <p:spPr>
          <a:xfrm>
            <a:off x="2950288" y="4942888"/>
            <a:ext cx="5720145" cy="1427052"/>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218364" y="370589"/>
            <a:ext cx="11973635" cy="6487411"/>
          </a:xfrm>
        </p:spPr>
        <p:txBody>
          <a:bodyPr>
            <a:normAutofit/>
          </a:bodyPr>
          <a:lstStyle/>
          <a:p>
            <a:r>
              <a:rPr lang="en-GB" dirty="0"/>
              <a:t>RESULTS </a:t>
            </a:r>
            <a:br>
              <a:rPr lang="en-GB" dirty="0"/>
            </a:br>
            <a:r>
              <a:rPr lang="en-GB" sz="2000" dirty="0">
                <a:highlight>
                  <a:srgbClr val="FFFF00"/>
                </a:highlight>
              </a:rPr>
              <a:t>EXPLORATOROY DATA ANALYSIS</a:t>
            </a:r>
            <a:endParaRPr lang="en-IN" sz="2000" dirty="0">
              <a:highlight>
                <a:srgbClr val="FFFF00"/>
              </a:highlight>
            </a:endParaRPr>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2114754" y="1275371"/>
            <a:ext cx="3704109"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39D52473-1C71-4A29-F48C-1A1BB76FD958}"/>
              </a:ext>
            </a:extLst>
          </p:cNvPr>
          <p:cNvPicPr>
            <a:picLocks noChangeAspect="1"/>
          </p:cNvPicPr>
          <p:nvPr/>
        </p:nvPicPr>
        <p:blipFill>
          <a:blip r:embed="rId3"/>
          <a:stretch>
            <a:fillRect/>
          </a:stretch>
        </p:blipFill>
        <p:spPr>
          <a:xfrm>
            <a:off x="320982" y="1772307"/>
            <a:ext cx="6209732" cy="3810322"/>
          </a:xfrm>
          <a:prstGeom prst="rect">
            <a:avLst/>
          </a:prstGeom>
        </p:spPr>
      </p:pic>
      <p:pic>
        <p:nvPicPr>
          <p:cNvPr id="13" name="Picture 12">
            <a:extLst>
              <a:ext uri="{FF2B5EF4-FFF2-40B4-BE49-F238E27FC236}">
                <a16:creationId xmlns:a16="http://schemas.microsoft.com/office/drawing/2014/main" id="{FDB61184-55E0-029B-A819-84596696EFF9}"/>
              </a:ext>
            </a:extLst>
          </p:cNvPr>
          <p:cNvPicPr>
            <a:picLocks noChangeAspect="1"/>
          </p:cNvPicPr>
          <p:nvPr/>
        </p:nvPicPr>
        <p:blipFill>
          <a:blip r:embed="rId4"/>
          <a:stretch>
            <a:fillRect/>
          </a:stretch>
        </p:blipFill>
        <p:spPr>
          <a:xfrm>
            <a:off x="6993470" y="1147444"/>
            <a:ext cx="4735773" cy="4563112"/>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11195061" cy="6487411"/>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3" y="1037230"/>
            <a:ext cx="10807081" cy="5627729"/>
          </a:xfrm>
        </p:spPr>
        <p:txBody>
          <a:bodyPr/>
          <a:lstStyle/>
          <a:p>
            <a:pPr marL="0" indent="0">
              <a:buNone/>
            </a:pPr>
            <a:r>
              <a:rPr lang="en-US" dirty="0"/>
              <a:t>SEASONAL PERFORMANCE:</a:t>
            </a:r>
            <a:endParaRPr lang="en-IN" dirty="0"/>
          </a:p>
        </p:txBody>
      </p:sp>
      <p:pic>
        <p:nvPicPr>
          <p:cNvPr id="3" name="Picture 2">
            <a:extLst>
              <a:ext uri="{FF2B5EF4-FFF2-40B4-BE49-F238E27FC236}">
                <a16:creationId xmlns:a16="http://schemas.microsoft.com/office/drawing/2014/main" id="{63904368-B006-C955-7947-30FF213CCDB1}"/>
              </a:ext>
            </a:extLst>
          </p:cNvPr>
          <p:cNvPicPr>
            <a:picLocks noChangeAspect="1"/>
          </p:cNvPicPr>
          <p:nvPr/>
        </p:nvPicPr>
        <p:blipFill>
          <a:blip r:embed="rId3"/>
          <a:stretch>
            <a:fillRect/>
          </a:stretch>
        </p:blipFill>
        <p:spPr>
          <a:xfrm>
            <a:off x="74872" y="1607643"/>
            <a:ext cx="6021128" cy="4486901"/>
          </a:xfrm>
          <a:prstGeom prst="rect">
            <a:avLst/>
          </a:prstGeom>
        </p:spPr>
      </p:pic>
      <p:pic>
        <p:nvPicPr>
          <p:cNvPr id="9" name="Picture 8">
            <a:extLst>
              <a:ext uri="{FF2B5EF4-FFF2-40B4-BE49-F238E27FC236}">
                <a16:creationId xmlns:a16="http://schemas.microsoft.com/office/drawing/2014/main" id="{A74AC7EA-5A96-F833-AC4F-5F48A6DAF725}"/>
              </a:ext>
            </a:extLst>
          </p:cNvPr>
          <p:cNvPicPr>
            <a:picLocks noChangeAspect="1"/>
          </p:cNvPicPr>
          <p:nvPr/>
        </p:nvPicPr>
        <p:blipFill>
          <a:blip r:embed="rId4"/>
          <a:stretch>
            <a:fillRect/>
          </a:stretch>
        </p:blipFill>
        <p:spPr>
          <a:xfrm>
            <a:off x="6095999" y="1524395"/>
            <a:ext cx="6021129" cy="4296375"/>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320982" y="370589"/>
            <a:ext cx="11550035" cy="6294371"/>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320981" y="1146412"/>
            <a:ext cx="11757287" cy="5518549"/>
          </a:xfrm>
        </p:spPr>
        <p:txBody>
          <a:bodyPr/>
          <a:lstStyle/>
          <a:p>
            <a:pPr marL="0" indent="0">
              <a:buNone/>
            </a:pPr>
            <a:r>
              <a:rPr lang="en-US" dirty="0">
                <a:highlight>
                  <a:srgbClr val="C0C0C0"/>
                </a:highlight>
              </a:rPr>
              <a:t>ENVIRONMENTAL ANALYSIS :</a:t>
            </a:r>
            <a:endParaRPr lang="en-IN" dirty="0">
              <a:highlight>
                <a:srgbClr val="C0C0C0"/>
              </a:highlight>
            </a:endParaRPr>
          </a:p>
        </p:txBody>
      </p:sp>
      <p:pic>
        <p:nvPicPr>
          <p:cNvPr id="3" name="Picture 2">
            <a:extLst>
              <a:ext uri="{FF2B5EF4-FFF2-40B4-BE49-F238E27FC236}">
                <a16:creationId xmlns:a16="http://schemas.microsoft.com/office/drawing/2014/main" id="{7632C36C-4B07-D90B-2FD4-F290CB394F36}"/>
              </a:ext>
            </a:extLst>
          </p:cNvPr>
          <p:cNvPicPr>
            <a:picLocks noChangeAspect="1"/>
          </p:cNvPicPr>
          <p:nvPr/>
        </p:nvPicPr>
        <p:blipFill>
          <a:blip r:embed="rId3"/>
          <a:stretch>
            <a:fillRect/>
          </a:stretch>
        </p:blipFill>
        <p:spPr>
          <a:xfrm>
            <a:off x="254757" y="1581659"/>
            <a:ext cx="5559189" cy="3872229"/>
          </a:xfrm>
          <a:prstGeom prst="rect">
            <a:avLst/>
          </a:prstGeom>
        </p:spPr>
      </p:pic>
      <p:pic>
        <p:nvPicPr>
          <p:cNvPr id="9" name="Picture 8">
            <a:extLst>
              <a:ext uri="{FF2B5EF4-FFF2-40B4-BE49-F238E27FC236}">
                <a16:creationId xmlns:a16="http://schemas.microsoft.com/office/drawing/2014/main" id="{273044F9-F8C4-B70D-4D3A-629BBD744268}"/>
              </a:ext>
            </a:extLst>
          </p:cNvPr>
          <p:cNvPicPr>
            <a:picLocks noChangeAspect="1"/>
          </p:cNvPicPr>
          <p:nvPr/>
        </p:nvPicPr>
        <p:blipFill>
          <a:blip r:embed="rId4"/>
          <a:stretch>
            <a:fillRect/>
          </a:stretch>
        </p:blipFill>
        <p:spPr>
          <a:xfrm>
            <a:off x="5606884" y="1328444"/>
            <a:ext cx="6264133" cy="4201111"/>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335EA-E534-23E9-2C06-7127BCDB2D6D}"/>
              </a:ext>
            </a:extLst>
          </p:cNvPr>
          <p:cNvSpPr>
            <a:spLocks noGrp="1"/>
          </p:cNvSpPr>
          <p:nvPr>
            <p:ph type="title"/>
          </p:nvPr>
        </p:nvSpPr>
        <p:spPr>
          <a:xfrm>
            <a:off x="95534" y="286605"/>
            <a:ext cx="9178468" cy="996286"/>
          </a:xfrm>
        </p:spPr>
        <p:txBody>
          <a:bodyPr>
            <a:normAutofit/>
          </a:bodyPr>
          <a:lstStyle/>
          <a:p>
            <a:r>
              <a:rPr lang="en-US" dirty="0"/>
              <a:t>RESULTS</a:t>
            </a:r>
            <a:br>
              <a:rPr lang="en-US" dirty="0"/>
            </a:br>
            <a:r>
              <a:rPr lang="en-US" sz="2000" dirty="0"/>
              <a:t>RESOURE USAGE:</a:t>
            </a:r>
            <a:endParaRPr lang="en-IN" sz="2000" dirty="0"/>
          </a:p>
        </p:txBody>
      </p:sp>
      <p:pic>
        <p:nvPicPr>
          <p:cNvPr id="6" name="Content Placeholder 5">
            <a:extLst>
              <a:ext uri="{FF2B5EF4-FFF2-40B4-BE49-F238E27FC236}">
                <a16:creationId xmlns:a16="http://schemas.microsoft.com/office/drawing/2014/main" id="{71A83ABE-AECF-B8A1-779C-C016FE5A9371}"/>
              </a:ext>
            </a:extLst>
          </p:cNvPr>
          <p:cNvPicPr>
            <a:picLocks noGrp="1" noChangeAspect="1"/>
          </p:cNvPicPr>
          <p:nvPr>
            <p:ph idx="1"/>
          </p:nvPr>
        </p:nvPicPr>
        <p:blipFill>
          <a:blip r:embed="rId2"/>
          <a:stretch>
            <a:fillRect/>
          </a:stretch>
        </p:blipFill>
        <p:spPr>
          <a:xfrm>
            <a:off x="95534" y="1282891"/>
            <a:ext cx="5704765" cy="4382112"/>
          </a:xfrm>
          <a:prstGeom prst="rect">
            <a:avLst/>
          </a:prstGeom>
        </p:spPr>
      </p:pic>
      <p:sp>
        <p:nvSpPr>
          <p:cNvPr id="4" name="Slide Number Placeholder 3">
            <a:extLst>
              <a:ext uri="{FF2B5EF4-FFF2-40B4-BE49-F238E27FC236}">
                <a16:creationId xmlns:a16="http://schemas.microsoft.com/office/drawing/2014/main" id="{AC2BDEAB-C05C-CCFC-99B9-92780137DE49}"/>
              </a:ext>
            </a:extLst>
          </p:cNvPr>
          <p:cNvSpPr>
            <a:spLocks noGrp="1"/>
          </p:cNvSpPr>
          <p:nvPr>
            <p:ph type="sldNum" sz="quarter" idx="12"/>
          </p:nvPr>
        </p:nvSpPr>
        <p:spPr/>
        <p:txBody>
          <a:bodyPr/>
          <a:lstStyle/>
          <a:p>
            <a:fld id="{D57F1E4F-1CFF-5643-939E-217C01CDF565}" type="slidenum">
              <a:rPr lang="en-US" smtClean="0"/>
              <a:pPr/>
              <a:t>10</a:t>
            </a:fld>
            <a:endParaRPr lang="en-US" dirty="0"/>
          </a:p>
        </p:txBody>
      </p:sp>
      <p:pic>
        <p:nvPicPr>
          <p:cNvPr id="8" name="Picture 7">
            <a:extLst>
              <a:ext uri="{FF2B5EF4-FFF2-40B4-BE49-F238E27FC236}">
                <a16:creationId xmlns:a16="http://schemas.microsoft.com/office/drawing/2014/main" id="{81142A90-AB36-9A15-D8E5-6CD8CA85BEE8}"/>
              </a:ext>
            </a:extLst>
          </p:cNvPr>
          <p:cNvPicPr>
            <a:picLocks noChangeAspect="1"/>
          </p:cNvPicPr>
          <p:nvPr/>
        </p:nvPicPr>
        <p:blipFill>
          <a:blip r:embed="rId3"/>
          <a:stretch>
            <a:fillRect/>
          </a:stretch>
        </p:blipFill>
        <p:spPr>
          <a:xfrm>
            <a:off x="6096000" y="1349576"/>
            <a:ext cx="5725324" cy="4315427"/>
          </a:xfrm>
          <a:prstGeom prst="rect">
            <a:avLst/>
          </a:prstGeom>
        </p:spPr>
      </p:pic>
    </p:spTree>
    <p:extLst>
      <p:ext uri="{BB962C8B-B14F-4D97-AF65-F5344CB8AC3E}">
        <p14:creationId xmlns:p14="http://schemas.microsoft.com/office/powerpoint/2010/main" val="9981005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035BB2-3B69-F002-F0B0-4CD80C181647}"/>
              </a:ext>
            </a:extLst>
          </p:cNvPr>
          <p:cNvSpPr>
            <a:spLocks noGrp="1"/>
          </p:cNvSpPr>
          <p:nvPr>
            <p:ph type="body" sz="quarter" idx="12"/>
          </p:nvPr>
        </p:nvSpPr>
        <p:spPr>
          <a:xfrm>
            <a:off x="660400" y="928049"/>
            <a:ext cx="4275138" cy="477670"/>
          </a:xfrm>
        </p:spPr>
        <p:txBody>
          <a:bodyPr>
            <a:normAutofit/>
          </a:bodyPr>
          <a:lstStyle/>
          <a:p>
            <a:pPr marL="0" indent="0">
              <a:buNone/>
            </a:pPr>
            <a:r>
              <a:rPr lang="en-US" dirty="0"/>
              <a:t>CORRELATION :</a:t>
            </a:r>
            <a:endParaRPr lang="en-IN" dirty="0"/>
          </a:p>
        </p:txBody>
      </p:sp>
      <p:pic>
        <p:nvPicPr>
          <p:cNvPr id="8" name="Picture Placeholder 7">
            <a:extLst>
              <a:ext uri="{FF2B5EF4-FFF2-40B4-BE49-F238E27FC236}">
                <a16:creationId xmlns:a16="http://schemas.microsoft.com/office/drawing/2014/main" id="{2DA6B9CF-964C-B16A-7A5E-E12A98652587}"/>
              </a:ext>
            </a:extLst>
          </p:cNvPr>
          <p:cNvPicPr>
            <a:picLocks noGrp="1" noChangeAspect="1"/>
          </p:cNvPicPr>
          <p:nvPr>
            <p:ph type="pic" sz="quarter" idx="13"/>
          </p:nvPr>
        </p:nvPicPr>
        <p:blipFill>
          <a:blip r:embed="rId2"/>
          <a:srcRect t="524" b="524"/>
          <a:stretch>
            <a:fillRect/>
          </a:stretch>
        </p:blipFill>
        <p:spPr>
          <a:xfrm>
            <a:off x="660400" y="545910"/>
            <a:ext cx="10107684" cy="5632640"/>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pic>
      <p:sp>
        <p:nvSpPr>
          <p:cNvPr id="4" name="Title 3">
            <a:extLst>
              <a:ext uri="{FF2B5EF4-FFF2-40B4-BE49-F238E27FC236}">
                <a16:creationId xmlns:a16="http://schemas.microsoft.com/office/drawing/2014/main" id="{0C1514DA-FB44-B255-9D2C-E883980D2362}"/>
              </a:ext>
            </a:extLst>
          </p:cNvPr>
          <p:cNvSpPr>
            <a:spLocks noGrp="1"/>
          </p:cNvSpPr>
          <p:nvPr>
            <p:ph type="title"/>
          </p:nvPr>
        </p:nvSpPr>
        <p:spPr>
          <a:xfrm>
            <a:off x="660400" y="232013"/>
            <a:ext cx="4275138" cy="805217"/>
          </a:xfrm>
        </p:spPr>
        <p:txBody>
          <a:bodyPr>
            <a:normAutofit fontScale="90000"/>
          </a:bodyPr>
          <a:lstStyle/>
          <a:p>
            <a:r>
              <a:rPr lang="en-US" dirty="0"/>
              <a:t>RESULTS</a:t>
            </a:r>
            <a:endParaRPr lang="en-IN" dirty="0"/>
          </a:p>
        </p:txBody>
      </p:sp>
    </p:spTree>
    <p:extLst>
      <p:ext uri="{BB962C8B-B14F-4D97-AF65-F5344CB8AC3E}">
        <p14:creationId xmlns:p14="http://schemas.microsoft.com/office/powerpoint/2010/main" val="41194392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90"/>
            <a:ext cx="10840086" cy="6294370"/>
          </a:xfrm>
        </p:spPr>
        <p:txBody>
          <a:bodyPr>
            <a:normAutofit/>
          </a:bodyPr>
          <a:lstStyle/>
          <a:p>
            <a:r>
              <a:rPr lang="en-IN" sz="4000" dirty="0"/>
              <a:t>Future scope</a:t>
            </a:r>
            <a:br>
              <a:rPr lang="en-IN" sz="4000" dirty="0"/>
            </a:br>
            <a:r>
              <a:rPr lang="en-IN" sz="2400" dirty="0"/>
              <a:t> </a:t>
            </a:r>
            <a:br>
              <a:rPr lang="en-IN" sz="2400" dirty="0"/>
            </a:br>
            <a:r>
              <a:rPr lang="en-IN" sz="2400" dirty="0"/>
              <a:t>Real-time Data Integration – Include live weather, market price, and agricultural data. </a:t>
            </a:r>
            <a:br>
              <a:rPr lang="en-IN" sz="2400" dirty="0"/>
            </a:br>
            <a:br>
              <a:rPr lang="en-IN" sz="2400" dirty="0"/>
            </a:br>
            <a:r>
              <a:rPr lang="en-IN" sz="2400" dirty="0"/>
              <a:t>Crop Recommendation – Recommend suitable crops based on seasonal and environmental conditions.</a:t>
            </a:r>
            <a:br>
              <a:rPr lang="en-IN" sz="2400" dirty="0"/>
            </a:br>
            <a:r>
              <a:rPr lang="en-IN" sz="2400" dirty="0"/>
              <a:t> </a:t>
            </a:r>
            <a:br>
              <a:rPr lang="en-IN" sz="2400" dirty="0"/>
            </a:br>
            <a:r>
              <a:rPr lang="en-IN" sz="2400" dirty="0"/>
              <a:t>Predictive Analysis – Predict future crop yield and profitability using Machine Learning. </a:t>
            </a:r>
            <a:br>
              <a:rPr lang="en-IN" sz="2400" dirty="0"/>
            </a:br>
            <a:br>
              <a:rPr lang="en-IN" sz="2400" dirty="0"/>
            </a:br>
            <a:r>
              <a:rPr lang="en-IN" sz="2400" dirty="0"/>
              <a:t>Advanced Environmental Analysis – Study the impact of rainfall, temperature, and soil conditions in greater detail.</a:t>
            </a:r>
            <a:br>
              <a:rPr lang="en-IN" sz="2400" dirty="0"/>
            </a:br>
            <a:endParaRPr lang="en-IN" sz="2400" dirty="0"/>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0"/>
            <a:ext cx="11620809" cy="538958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10010240" cy="5921029"/>
          </a:xfrm>
        </p:spPr>
        <p:txBody>
          <a:bodyPr>
            <a:normAutofit/>
          </a:bodyPr>
          <a:lstStyle/>
          <a:p>
            <a:r>
              <a:rPr lang="en-IN" sz="4000" dirty="0"/>
              <a:t>GitHub Link</a:t>
            </a:r>
            <a:br>
              <a:rPr lang="en-IN" sz="4000" dirty="0"/>
            </a:br>
            <a:br>
              <a:rPr lang="en-IN" sz="4000" dirty="0"/>
            </a:br>
            <a:r>
              <a:rPr lang="en-IN" sz="2800" dirty="0">
                <a:hlinkClick r:id="rId3"/>
              </a:rPr>
              <a:t>CLICK HERE TO VIEW PROJECT </a:t>
            </a:r>
            <a:br>
              <a:rPr lang="en-IN" sz="2800" dirty="0"/>
            </a:br>
            <a:br>
              <a:rPr lang="en-IN" sz="4000" dirty="0"/>
            </a:br>
            <a:r>
              <a:rPr lang="en-IN" sz="1600" dirty="0"/>
              <a:t>https://github.com/rajeshagiri012-cpu/Seasonal-Agriculture-Performance-Analysis.git</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0"/>
            <a:ext cx="11770934" cy="538958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90585B6D-FB13-977A-EBA7-50F810A41A13}"/>
              </a:ext>
            </a:extLst>
          </p:cNvPr>
          <p:cNvPicPr>
            <a:picLocks noChangeAspect="1"/>
          </p:cNvPicPr>
          <p:nvPr/>
        </p:nvPicPr>
        <p:blipFill>
          <a:blip r:embed="rId3"/>
          <a:stretch>
            <a:fillRect/>
          </a:stretch>
        </p:blipFill>
        <p:spPr>
          <a:xfrm>
            <a:off x="5619750" y="2952750"/>
            <a:ext cx="952500" cy="952500"/>
          </a:xfrm>
          <a:prstGeom prst="rect">
            <a:avLst/>
          </a:prstGeom>
        </p:spPr>
      </p:pic>
      <p:pic>
        <p:nvPicPr>
          <p:cNvPr id="10" name="Picture 9">
            <a:extLst>
              <a:ext uri="{FF2B5EF4-FFF2-40B4-BE49-F238E27FC236}">
                <a16:creationId xmlns:a16="http://schemas.microsoft.com/office/drawing/2014/main" id="{3CC96119-2131-35B4-2E16-CCB22E91D8B8}"/>
              </a:ext>
            </a:extLst>
          </p:cNvPr>
          <p:cNvPicPr>
            <a:picLocks noChangeAspect="1"/>
          </p:cNvPicPr>
          <p:nvPr/>
        </p:nvPicPr>
        <p:blipFill>
          <a:blip r:embed="rId4"/>
          <a:stretch>
            <a:fillRect/>
          </a:stretch>
        </p:blipFill>
        <p:spPr>
          <a:xfrm>
            <a:off x="2819082" y="1667918"/>
            <a:ext cx="7201905" cy="5077534"/>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32000" y="647699"/>
            <a:ext cx="11340000" cy="5684862"/>
          </a:xfrm>
          <a:prstGeom prst="rect">
            <a:avLst/>
          </a:prstGeom>
        </p:spPr>
        <p:txBody>
          <a:bodyPr anchor="ctr">
            <a:normAutofit/>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451668" y="6110642"/>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1460310"/>
            <a:ext cx="2139696" cy="2846575"/>
          </a:xfrm>
        </p:spPr>
        <p:txBody>
          <a:bodyPr>
            <a:normAutofit/>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2645</TotalTime>
  <Words>449</Words>
  <Application>Microsoft Office PowerPoint</Application>
  <PresentationFormat>Widescreen</PresentationFormat>
  <Paragraphs>38</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Project Title -</vt:lpstr>
      <vt:lpstr>PROBLEM  STATEMENT</vt:lpstr>
      <vt:lpstr>Project Description : Seasonal Agriculture Performance Analysis is a data analysis project that examines agricultural activities across different seasons, crops, and geographical areas. The project uses agricultural, environmental, resource-usage, and economic data to identify patterns and differences in seasonal performance. The analysis focuses on yield, production, revenue, cost, and profit, along with factors such as rainfall, temperature, soil moisture, water usage, fertilizer, and pesticide usage. Data cleaning, exploratory data analysis, statistical summaries, and correlation analysis are used to generate meaningful insights and support data-driven agricultural planning and decision-making. </vt:lpstr>
      <vt:lpstr>WHO ARE THE END USERS?</vt:lpstr>
      <vt:lpstr>Technology Used</vt:lpstr>
      <vt:lpstr>RESULTS </vt:lpstr>
      <vt:lpstr>RESULTS  EXPLORATOROY DATA ANALYSIS</vt:lpstr>
      <vt:lpstr>RESULTS </vt:lpstr>
      <vt:lpstr>RESULTS </vt:lpstr>
      <vt:lpstr>RESULTS RESOURE USAGE:</vt:lpstr>
      <vt:lpstr>RESULTS</vt:lpstr>
      <vt:lpstr>Future scope   Real-time Data Integration – Include live weather, market price, and agricultural data.   Crop Recommendation – Recommend suitable crops based on seasonal and environmental conditions.   Predictive Analysis – Predict future crop yield and profitability using Machine Learning.   Advanced Environmental Analysis – Study the impact of rainfall, temperature, and soil conditions in greater detail. </vt:lpstr>
      <vt:lpstr>GitHub Link  CLICK HERE TO VIEW PROJECT   https://github.com/rajeshagiri012-cpu/Seasonal-Agriculture-Performance-Analysis.git</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 rajesh</cp:lastModifiedBy>
  <cp:revision>100</cp:revision>
  <dcterms:created xsi:type="dcterms:W3CDTF">2021-07-11T13:13:15Z</dcterms:created>
  <dcterms:modified xsi:type="dcterms:W3CDTF">2026-09-06T17:13:50Z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